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965960" cy="3794760"/>
          </a:xfrm>
          <a:prstGeom prst="rect">
            <a:avLst/>
          </a:prstGeom>
          <a:solidFill>
            <a:srgbClr val="F3F4F6"/>
          </a:solidFill>
          <a:ln w="12700">
            <a:solidFill>
              <a:srgbClr val="5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338328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5F6B75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731520"/>
            <a:ext cx="16916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异构医学语料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放射报告 · 半结构化标注
诊断摘要 · 2D/3D 影像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37744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临床推理分类体系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查询形式 Q
答案规范 A
能力标签 C
目标分布 P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74320"/>
            <a:ext cx="4892040" cy="3794760"/>
          </a:xfrm>
          <a:prstGeom prst="rect">
            <a:avLst/>
          </a:prstGeom>
          <a:solidFill>
            <a:srgbClr val="EAF2FB"/>
          </a:solidFill>
          <a:ln w="12700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338328"/>
            <a:ext cx="4709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F6EB5"/>
                </a:solidFill>
                <a:latin typeface="微软雅黑"/>
                <a:ea typeface="微软雅黑"/>
                <a:cs typeface="微软雅黑"/>
              </a:rPr>
              <a:t>(A) 多智能体监督构建（MedSkillFlow）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2171700"/>
            <a:ext cx="1463040" cy="1371600"/>
          </a:xfrm>
          <a:prstGeom prst="roundRect">
            <a:avLst>
              <a:gd name="adj" fmla="val 8000"/>
            </a:avLst>
          </a:prstGeom>
          <a:solidFill>
            <a:srgbClr val="D6E6F7"/>
          </a:solidFill>
          <a:ln w="1587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规划智能体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依据分类体系与
反馈信号选择技能链
并路由执行智能体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621792"/>
            <a:ext cx="2971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E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6583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2F6EB5"/>
                </a:solidFill>
                <a:latin typeface="微软雅黑"/>
                <a:ea typeface="微软雅黑"/>
                <a:cs typeface="微软雅黑"/>
              </a:rPr>
              <a:t>可复用技能库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896112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问题重构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6840" y="896112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答案规范化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151" y="896112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领域适配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197864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干扰项生成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6840" y="1197864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报告构建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9151" y="1197864"/>
            <a:ext cx="899160" cy="24688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思维链增强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783080"/>
            <a:ext cx="1463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182880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执行智能体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2103120"/>
            <a:ext cx="1280160" cy="53035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识别智能体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提取临床发现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706624"/>
            <a:ext cx="1280160" cy="53035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判别智能体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鉴别诊断问答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310128"/>
            <a:ext cx="1280160" cy="53035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组合智能体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结构化报告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1783080"/>
            <a:ext cx="1371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1828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双模式执行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2103120"/>
            <a:ext cx="1188720" cy="84124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逐样本执行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细粒度控制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3017520"/>
            <a:ext cx="1188720" cy="84124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9525">
            <a:solidFill>
              <a:srgbClr val="2F6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可复用策略执行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批量 · 低成本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274320"/>
            <a:ext cx="2103120" cy="3794760"/>
          </a:xfrm>
          <a:prstGeom prst="rect">
            <a:avLst/>
          </a:prstGeom>
          <a:solidFill>
            <a:srgbClr val="F1ECF8"/>
          </a:solidFill>
          <a:ln w="12700">
            <a:solidFill>
              <a:srgbClr val="6E4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16367" y="338328"/>
            <a:ext cx="1920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E4BA8"/>
                </a:solidFill>
                <a:latin typeface="微软雅黑"/>
                <a:ea typeface="微软雅黑"/>
                <a:cs typeface="微软雅黑"/>
              </a:rPr>
              <a:t>(B) 分层质量控制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77724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4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规则硬约束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分类体系实例化的
确定性规则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1874519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4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多模型合理性评分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多个大模型
判定临床合理性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297180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4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分布对齐监控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任务分布对齐度
（JS 散度）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46920" y="274320"/>
            <a:ext cx="2267712" cy="3794760"/>
          </a:xfrm>
          <a:prstGeom prst="rect">
            <a:avLst/>
          </a:prstGeom>
          <a:solidFill>
            <a:srgbClr val="E6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6648" y="33832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微软雅黑"/>
                <a:ea typeface="微软雅黑"/>
                <a:cs typeface="微软雅黑"/>
              </a:rPr>
              <a:t>学习者模型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1325880"/>
            <a:ext cx="1993392" cy="1965960"/>
          </a:xfrm>
          <a:prstGeom prst="roundRect">
            <a:avLst>
              <a:gd name="adj" fmla="val 8000"/>
            </a:avLst>
          </a:prstGeom>
          <a:solidFill>
            <a:srgbClr val="D3ECDB"/>
          </a:solidFill>
          <a:ln w="158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医学视觉-语言大模型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2D/3D 医学影像问答
放射报告生成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4279392"/>
            <a:ext cx="9537192" cy="2304288"/>
          </a:xfrm>
          <a:prstGeom prst="rect">
            <a:avLst/>
          </a:prstGeom>
          <a:solidFill>
            <a:srgbClr val="FDF1E6"/>
          </a:solidFill>
          <a:ln w="12700">
            <a:solidFill>
              <a:srgbClr val="C2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87168" y="4343400"/>
            <a:ext cx="9354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C26A1B"/>
                </a:solidFill>
                <a:latin typeface="微软雅黑"/>
                <a:ea typeface="微软雅黑"/>
                <a:cs typeface="微软雅黑"/>
              </a:rPr>
              <a:t>(C) 监督构建与模型能力协同演化（CoEvoMed）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709160"/>
            <a:ext cx="199339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独立验证集评估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能力画像
学习增益
残余错误语义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4681728"/>
            <a:ext cx="28346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课程规划器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学习进度驱动 · PPO 优化
固定预算下的修复/保持分配：在哪里投入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0" y="5596128"/>
            <a:ext cx="2834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原则修订智能体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依据残余错误提出候选原则
同证据对比择优：如何构建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42032" y="4681728"/>
            <a:ext cx="2651760" cy="1719072"/>
          </a:xfrm>
          <a:prstGeom prst="roundRect">
            <a:avLst>
              <a:gd name="adj" fmla="val 8000"/>
            </a:avLst>
          </a:prstGeom>
          <a:solidFill>
            <a:srgbClr val="FBE3CC"/>
          </a:solidFill>
          <a:ln w="15875">
            <a:solidFill>
              <a:srgbClr val="C2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下一轮构建配置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构建原则 Σ（如何构建）
预算份额 q（在哪里投入）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279392"/>
            <a:ext cx="1965960" cy="2304288"/>
          </a:xfrm>
          <a:prstGeom prst="rect">
            <a:avLst/>
          </a:prstGeom>
          <a:solidFill>
            <a:srgbClr val="F3F4F6"/>
          </a:solidFill>
          <a:ln w="12700">
            <a:solidFill>
              <a:srgbClr val="5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434340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5F6B75"/>
                </a:solidFill>
                <a:latin typeface="微软雅黑"/>
                <a:ea typeface="微软雅黑"/>
                <a:cs typeface="微软雅黑"/>
              </a:rPr>
              <a:t>图例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4892040"/>
            <a:ext cx="457200" cy="0"/>
          </a:xfrm>
          <a:prstGeom prst="line">
            <a:avLst/>
          </a:prstGeom>
          <a:ln w="22225">
            <a:solidFill>
              <a:srgbClr val="26323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05840" y="480060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数据流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57200" y="5303520"/>
            <a:ext cx="457200" cy="0"/>
          </a:xfrm>
          <a:prstGeom prst="line">
            <a:avLst/>
          </a:prstGeom>
          <a:ln w="22225">
            <a:solidFill>
              <a:srgbClr val="C26A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840" y="521208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63238"/>
                </a:solidFill>
                <a:latin typeface="微软雅黑"/>
                <a:ea typeface="微软雅黑"/>
                <a:cs typeface="微软雅黑"/>
              </a:rPr>
              <a:t>反馈流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562356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6066"/>
                </a:solidFill>
                <a:latin typeface="微软雅黑"/>
                <a:ea typeface="微软雅黑"/>
                <a:cs typeface="微软雅黑"/>
              </a:rPr>
              <a:t>每轮训练后依据评估结果
更新构建配置，循环迭代</a:t>
            </a:r>
          </a:p>
        </p:txBody>
      </p:sp>
      <p:cxnSp>
        <p:nvCxnSpPr>
          <p:cNvPr id="47" name="Connector 46"/>
          <p:cNvCxnSpPr>
            <a:stCxn id="4" idx="3"/>
            <a:endCxn id="8" idx="1"/>
          </p:cNvCxnSpPr>
          <p:nvPr/>
        </p:nvCxnSpPr>
        <p:spPr>
          <a:xfrm>
            <a:off x="2103120" y="1440180"/>
            <a:ext cx="438912" cy="1417320"/>
          </a:xfrm>
          <a:prstGeom prst="bentConnector3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5" idx="3"/>
            <a:endCxn id="8" idx="1"/>
          </p:cNvCxnSpPr>
          <p:nvPr/>
        </p:nvCxnSpPr>
        <p:spPr>
          <a:xfrm flipV="1">
            <a:off x="2103120" y="2857500"/>
            <a:ext cx="438912" cy="297180"/>
          </a:xfrm>
          <a:prstGeom prst="bentConnector3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8" idx="3"/>
            <a:endCxn id="17" idx="1"/>
          </p:cNvCxnSpPr>
          <p:nvPr/>
        </p:nvCxnSpPr>
        <p:spPr>
          <a:xfrm flipV="1">
            <a:off x="4005072" y="2857500"/>
            <a:ext cx="155448" cy="0"/>
          </a:xfrm>
          <a:prstGeom prst="line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9" idx="2"/>
            <a:endCxn id="17" idx="0"/>
          </p:cNvCxnSpPr>
          <p:nvPr/>
        </p:nvCxnSpPr>
        <p:spPr>
          <a:xfrm flipH="1">
            <a:off x="4892040" y="1536192"/>
            <a:ext cx="754380" cy="246888"/>
          </a:xfrm>
          <a:prstGeom prst="bentConnector3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17" idx="3"/>
            <a:endCxn id="22" idx="1"/>
          </p:cNvCxnSpPr>
          <p:nvPr/>
        </p:nvCxnSpPr>
        <p:spPr>
          <a:xfrm flipV="1">
            <a:off x="5623560" y="2857500"/>
            <a:ext cx="137160" cy="0"/>
          </a:xfrm>
          <a:prstGeom prst="line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22" idx="3"/>
            <a:endCxn id="29" idx="1"/>
          </p:cNvCxnSpPr>
          <p:nvPr/>
        </p:nvCxnSpPr>
        <p:spPr>
          <a:xfrm flipV="1">
            <a:off x="7132320" y="2308859"/>
            <a:ext cx="411480" cy="548641"/>
          </a:xfrm>
          <a:prstGeom prst="bentConnector3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stCxn id="28" idx="2"/>
            <a:endCxn id="29" idx="0"/>
          </p:cNvCxnSpPr>
          <p:nvPr/>
        </p:nvCxnSpPr>
        <p:spPr>
          <a:xfrm flipH="1">
            <a:off x="8458200" y="1645920"/>
            <a:ext cx="0" cy="228599"/>
          </a:xfrm>
          <a:prstGeom prst="line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stCxn id="29" idx="2"/>
            <a:endCxn id="30" idx="0"/>
          </p:cNvCxnSpPr>
          <p:nvPr/>
        </p:nvCxnSpPr>
        <p:spPr>
          <a:xfrm flipH="1">
            <a:off x="8458200" y="2743199"/>
            <a:ext cx="0" cy="228601"/>
          </a:xfrm>
          <a:prstGeom prst="line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stCxn id="29" idx="3"/>
            <a:endCxn id="33" idx="1"/>
          </p:cNvCxnSpPr>
          <p:nvPr/>
        </p:nvCxnSpPr>
        <p:spPr>
          <a:xfrm>
            <a:off x="9372600" y="2308859"/>
            <a:ext cx="411480" cy="1"/>
          </a:xfrm>
          <a:prstGeom prst="line">
            <a:avLst/>
          </a:prstGeom>
          <a:ln w="22225">
            <a:solidFill>
              <a:srgbClr val="26323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stCxn id="33" idx="2"/>
            <a:endCxn id="36" idx="0"/>
          </p:cNvCxnSpPr>
          <p:nvPr/>
        </p:nvCxnSpPr>
        <p:spPr>
          <a:xfrm flipH="1">
            <a:off x="10780776" y="3291840"/>
            <a:ext cx="0" cy="1417320"/>
          </a:xfrm>
          <a:prstGeom prst="line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36" idx="1"/>
            <a:endCxn id="37" idx="3"/>
          </p:cNvCxnSpPr>
          <p:nvPr/>
        </p:nvCxnSpPr>
        <p:spPr>
          <a:xfrm flipH="1" flipV="1">
            <a:off x="8869680" y="5070348"/>
            <a:ext cx="914400" cy="484632"/>
          </a:xfrm>
          <a:prstGeom prst="bentConnector3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1"/>
            <a:endCxn id="38" idx="3"/>
          </p:cNvCxnSpPr>
          <p:nvPr/>
        </p:nvCxnSpPr>
        <p:spPr>
          <a:xfrm flipH="1">
            <a:off x="8869680" y="5554980"/>
            <a:ext cx="914400" cy="443484"/>
          </a:xfrm>
          <a:prstGeom prst="bentConnector3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7" idx="1"/>
            <a:endCxn id="39" idx="3"/>
          </p:cNvCxnSpPr>
          <p:nvPr/>
        </p:nvCxnSpPr>
        <p:spPr>
          <a:xfrm flipH="1">
            <a:off x="5193792" y="5070348"/>
            <a:ext cx="841248" cy="470916"/>
          </a:xfrm>
          <a:prstGeom prst="bentConnector3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38" idx="1"/>
            <a:endCxn id="39" idx="3"/>
          </p:cNvCxnSpPr>
          <p:nvPr/>
        </p:nvCxnSpPr>
        <p:spPr>
          <a:xfrm flipH="1" flipV="1">
            <a:off x="5193792" y="5541264"/>
            <a:ext cx="841248" cy="457200"/>
          </a:xfrm>
          <a:prstGeom prst="bentConnector3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39" idx="0"/>
            <a:endCxn id="8" idx="2"/>
          </p:cNvCxnSpPr>
          <p:nvPr/>
        </p:nvCxnSpPr>
        <p:spPr>
          <a:xfrm flipH="1" flipV="1">
            <a:off x="3273552" y="3543300"/>
            <a:ext cx="594360" cy="1138428"/>
          </a:xfrm>
          <a:prstGeom prst="bentConnector3">
            <a:avLst/>
          </a:prstGeom>
          <a:ln w="22225">
            <a:solidFill>
              <a:srgbClr val="C26A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