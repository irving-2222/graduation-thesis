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来源：/Users/wanghaoyu/Documents/毕业论文/王浩羽_开题报告.pdf。主要依据 PDF 第7–9页“所要解决的主要问题及研究途径与方法”“技术路线”，以及第11页关于 MedSkillFlow 与 CoEvoMed 的研究积累。</a:t>
            </a:r>
          </a:p>
          <a:p>
            <a:r>
              <a:t>本图统一呈现三阶段技术路线：静态可控构建、动态协同演化、系统实验验证。MedSkillFlow 对应第一层方法，CoEvoMed 对应第二层方法。所有模块为 PowerPoint 原生可编辑对象。</a:t>
            </a:r>
          </a:p>
          <a:p>
            <a:r>
              <a:t>静态构建：分类体系包含查询形式、答案规范、能力标签与目标分布，控制规划智能体的技能链选择及质量规则。六类技能由识别、判别、组合三类执行智能体完成。逐样本模式保留中间结果，共享规范与源格式的样本则编译为可复用策略并确定性执行。质量控制结合规则硬约束、多模型评分、Jensen-Shannon 散度分布监控与医生抽检。</a:t>
            </a:r>
          </a:p>
          <a:p>
            <a:r>
              <a:t>动态构建：证据选择、监督构建、证据验证智能体依次从共享支撑集中检索影像和已验证事实、根据活跃原则构建监督、验证事实一致性、视觉依赖性、有效性和重复性。模型训练后，在独立验证集上比较相邻轮次对同一批样本的预测，诊断已修复缺陷、能力退化与持续性缺口。</a:t>
            </a:r>
          </a:p>
          <a:p>
            <a:r>
              <a:t>两条反馈通路：课程规划器在任务级固定配额内调整能力单元构建份额，以 VQA 和报告生成的有符号验证增益等权平均为奖励，采用行为克隆初始化及 PPO 优化。原则修订智能体在演化窗口结束时，针对使用充分但净修复非正的原则依据残余错误提出候选，在相同证据及配额下比较事实一致性、任务对齐度，并检查可用产出率与配对覆盖率后择优更新。图中实线表示数据或诊断流，虚线表示原则与配额更新共同指导下一轮构建。</a:t>
            </a:r>
          </a:p>
          <a:p>
            <a:r>
              <a:t>实验：构建数据与评测数据之间进行问答、报告、全文、图像路径、图像重复及高频模板等多维度去污染。VQA 使用准确率；报告使用 BLEU、ROUGE-L、METEOR 与 RaTEScore。图中为研究路线概括，不包含未验证的性能数值或额外机制。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A2A006-E7F5-4F32-9D94-F525BA3E0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4D3FADF-5E2A-4043-9C09-49535075C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E302F98-8F62-4A43-A8ED-89EC675C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2AB134-E536-4A8E-B693-68D97B2E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AE9BA92-174F-4697-BF58-553BB7A1E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74767E8-0661-4CE9-A671-8A84BE0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D578ABE-5164-4A84-89CB-28EFC4ACA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75F52AA-CB75-49FA-8797-AE4CC81D0D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98053F-10A4-4551-A936-481BFD34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4E6A18-4203-4A48-ABB5-05A56BF29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main-title">
            <a:extLst>
              <a:ext uri="{FF2B5EF4-FFF2-40B4-BE49-F238E27FC236}">
                <a16:creationId xmlns:a16="http://schemas.microsoft.com/office/drawing/2014/main" id="{14BB2B8C-95C4-477D-B43D-0F0EC364C35F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67640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def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面向医学视觉–语言大模型的多智能体自适应监督构建</a:t>
            </a:r>
          </a:p>
        </p:txBody>
      </p:sp>
      <p:sp>
        <p:nvSpPr>
          <p:cNvPr id="2" name="section-Ⅰ  静态可控构建    MedSkillFlow">
            <a:extLst>
              <a:ext uri="{FF2B5EF4-FFF2-40B4-BE49-F238E27FC236}">
                <a16:creationId xmlns:a16="http://schemas.microsoft.com/office/drawing/2014/main" id="{F32E19E6-D7D6-4960-AAC2-14BC4915C5D8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Ⅰ  静态可控构建    MedSkillFlow</a:t>
            </a:r>
          </a:p>
        </p:txBody>
      </p:sp>
      <p:sp>
        <p:nvSpPr>
          <p:cNvPr id="4" name="异构医学语料">
            <a:extLst>
              <a:ext uri="{FF2B5EF4-FFF2-40B4-BE49-F238E27FC236}">
                <a16:creationId xmlns:a16="http://schemas.microsoft.com/office/drawing/2014/main" id="{583B72DB-C74A-4FD5-A12B-1010B65EEC15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2667000" cy="2000250"/>
          </a:xfrm>
          <a:prstGeom prst="rect">
            <a:avLst/>
          </a:prstGeom>
          <a:solidFill>
            <a:srgbClr val="F2F6FC"/>
          </a:solidFill>
          <a:ln w="14288">
            <a:solidFill>
              <a:srgbClr val="3567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ource-title">
            <a:extLst>
              <a:ext uri="{FF2B5EF4-FFF2-40B4-BE49-F238E27FC236}">
                <a16:creationId xmlns:a16="http://schemas.microsoft.com/office/drawing/2014/main" id="{105651CF-EC5C-4348-B280-634541581504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异构医学语料</a:t>
            </a:r>
          </a:p>
        </p:txBody>
      </p:sp>
      <p:sp>
        <p:nvSpPr>
          <p:cNvPr id="6" name="source-body">
            <a:extLst>
              <a:ext uri="{FF2B5EF4-FFF2-40B4-BE49-F238E27FC236}">
                <a16:creationId xmlns:a16="http://schemas.microsoft.com/office/drawing/2014/main" id="{2A238BDB-9463-40AC-947D-A91E7891956C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22860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2D/3D 影像与医学文本</a:t>
            </a:r>
          </a:p>
          <a:p>
            <a:pPr algn="ctr">
              <a:def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数据整理与去污染</a:t>
            </a:r>
          </a:p>
        </p:txBody>
      </p:sp>
      <p:sp>
        <p:nvSpPr>
          <p:cNvPr id="7" name="临床推理分类体系">
            <a:extLst>
              <a:ext uri="{FF2B5EF4-FFF2-40B4-BE49-F238E27FC236}">
                <a16:creationId xmlns:a16="http://schemas.microsoft.com/office/drawing/2014/main" id="{625465C2-F9E4-40F4-AFFA-C94882D7C612}"/>
              </a:ext>
            </a:extLst>
          </p:cNvPr>
          <p:cNvSpPr>
            <a:spLocks noGrp="1"/>
          </p:cNvSpPr>
          <p:nvPr/>
        </p:nvSpPr>
        <p:spPr>
          <a:xfrm>
            <a:off x="3905250" y="2286000"/>
            <a:ext cx="3143250" cy="857250"/>
          </a:xfrm>
          <a:prstGeom prst="rect">
            <a:avLst/>
          </a:prstGeom>
          <a:solidFill>
            <a:srgbClr val="F2F6FC"/>
          </a:solidFill>
          <a:ln w="14288">
            <a:solidFill>
              <a:srgbClr val="3567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axonomy-title">
            <a:extLst>
              <a:ext uri="{FF2B5EF4-FFF2-40B4-BE49-F238E27FC236}">
                <a16:creationId xmlns:a16="http://schemas.microsoft.com/office/drawing/2014/main" id="{42739BE3-BE81-49D8-8705-0E0F663EE96E}"/>
              </a:ext>
            </a:extLst>
          </p:cNvPr>
          <p:cNvSpPr>
            <a:spLocks noGrp="1"/>
          </p:cNvSpPr>
          <p:nvPr/>
        </p:nvSpPr>
        <p:spPr>
          <a:xfrm>
            <a:off x="4057650" y="2371725"/>
            <a:ext cx="28384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临床推理分类体系</a:t>
            </a:r>
          </a:p>
        </p:txBody>
      </p:sp>
      <p:sp>
        <p:nvSpPr>
          <p:cNvPr id="9" name="taxonomy-body">
            <a:extLst>
              <a:ext uri="{FF2B5EF4-FFF2-40B4-BE49-F238E27FC236}">
                <a16:creationId xmlns:a16="http://schemas.microsoft.com/office/drawing/2014/main" id="{61C61957-9B10-4615-8ED0-A5A3EBEEA8E2}"/>
              </a:ext>
            </a:extLst>
          </p:cNvPr>
          <p:cNvSpPr>
            <a:spLocks noGrp="1"/>
          </p:cNvSpPr>
          <p:nvPr/>
        </p:nvSpPr>
        <p:spPr>
          <a:xfrm>
            <a:off x="4057650" y="280035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任务格式、能力与目标分布</a:t>
            </a:r>
          </a:p>
        </p:txBody>
      </p:sp>
      <p:sp>
        <p:nvSpPr>
          <p:cNvPr id="10" name="规划智能体">
            <a:extLst>
              <a:ext uri="{FF2B5EF4-FFF2-40B4-BE49-F238E27FC236}">
                <a16:creationId xmlns:a16="http://schemas.microsoft.com/office/drawing/2014/main" id="{B3676E3A-319F-4FD9-84C6-E97C356C260F}"/>
              </a:ext>
            </a:extLst>
          </p:cNvPr>
          <p:cNvSpPr>
            <a:spLocks noGrp="1"/>
          </p:cNvSpPr>
          <p:nvPr/>
        </p:nvSpPr>
        <p:spPr>
          <a:xfrm>
            <a:off x="3905250" y="3524250"/>
            <a:ext cx="3143250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3567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planner-title">
            <a:extLst>
              <a:ext uri="{FF2B5EF4-FFF2-40B4-BE49-F238E27FC236}">
                <a16:creationId xmlns:a16="http://schemas.microsoft.com/office/drawing/2014/main" id="{1848E5B8-51DC-42D0-A250-677B1959F08E}"/>
              </a:ext>
            </a:extLst>
          </p:cNvPr>
          <p:cNvSpPr>
            <a:spLocks noGrp="1"/>
          </p:cNvSpPr>
          <p:nvPr/>
        </p:nvSpPr>
        <p:spPr>
          <a:xfrm>
            <a:off x="4057650" y="3581400"/>
            <a:ext cx="28384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规划智能体</a:t>
            </a:r>
          </a:p>
        </p:txBody>
      </p:sp>
      <p:sp>
        <p:nvSpPr>
          <p:cNvPr id="12" name="planner-action">
            <a:extLst>
              <a:ext uri="{FF2B5EF4-FFF2-40B4-BE49-F238E27FC236}">
                <a16:creationId xmlns:a16="http://schemas.microsoft.com/office/drawing/2014/main" id="{89F823D7-E8A7-4DA4-86A5-53F567A1BFBC}"/>
              </a:ext>
            </a:extLst>
          </p:cNvPr>
          <p:cNvSpPr>
            <a:spLocks noGrp="1"/>
          </p:cNvSpPr>
          <p:nvPr/>
        </p:nvSpPr>
        <p:spPr>
          <a:xfrm>
            <a:off x="4057650" y="3962400"/>
            <a:ext cx="2838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选择有序技能链</a:t>
            </a:r>
          </a:p>
        </p:txBody>
      </p:sp>
      <p:cxnSp>
        <p:nvCxnSpPr>
          <p:cNvPr id="13" name="flow-2">
            <a:extLst>
              <a:ext uri="{FF2B5EF4-FFF2-40B4-BE49-F238E27FC236}">
                <a16:creationId xmlns:a16="http://schemas.microsoft.com/office/drawing/2014/main" id="{E6F20129-DDBF-4F19-966B-AD3E4A917BB2}"/>
              </a:ext>
            </a:extLst>
          </p:cNvPr>
          <p:cNvCxnSpPr/>
          <p:nvPr/>
        </p:nvCxnSpPr>
        <p:spPr>
          <a:xfrm>
            <a:off x="5476875" y="3143250"/>
            <a:ext cx="0" cy="381000"/>
          </a:xfrm>
          <a:prstGeom prst="straightConnector1">
            <a:avLst/>
          </a:prstGeom>
          <a:ln w="22860">
            <a:solidFill>
              <a:srgbClr val="3567A5"/>
            </a:solidFill>
            <a:prstDash val="solid"/>
            <a:tailEnd type="triangle" w="med" len="med"/>
          </a:ln>
        </p:spPr>
      </p:cxnSp>
      <p:cxnSp>
        <p:nvCxnSpPr>
          <p:cNvPr id="14" name="flow-3">
            <a:extLst>
              <a:ext uri="{FF2B5EF4-FFF2-40B4-BE49-F238E27FC236}">
                <a16:creationId xmlns:a16="http://schemas.microsoft.com/office/drawing/2014/main" id="{802C1DC8-A501-4E01-939E-1269A1C23D19}"/>
              </a:ext>
            </a:extLst>
          </p:cNvPr>
          <p:cNvCxnSpPr/>
          <p:nvPr/>
        </p:nvCxnSpPr>
        <p:spPr>
          <a:xfrm>
            <a:off x="3429000" y="3286125"/>
            <a:ext cx="238125" cy="0"/>
          </a:xfrm>
          <a:prstGeom prst="straightConnector1">
            <a:avLst/>
          </a:prstGeom>
          <a:ln w="22860">
            <a:solidFill>
              <a:srgbClr val="3567A5"/>
            </a:solidFill>
            <a:prstDash val="solid"/>
            <a:tailEnd type="none" w="med" len="med"/>
          </a:ln>
        </p:spPr>
      </p:cxnSp>
      <p:cxnSp>
        <p:nvCxnSpPr>
          <p:cNvPr id="15" name="flow-4">
            <a:extLst>
              <a:ext uri="{FF2B5EF4-FFF2-40B4-BE49-F238E27FC236}">
                <a16:creationId xmlns:a16="http://schemas.microsoft.com/office/drawing/2014/main" id="{3C4B9296-B420-4074-91B9-0A36131613BC}"/>
              </a:ext>
            </a:extLst>
          </p:cNvPr>
          <p:cNvCxnSpPr/>
          <p:nvPr/>
        </p:nvCxnSpPr>
        <p:spPr>
          <a:xfrm>
            <a:off x="3667125" y="3286125"/>
            <a:ext cx="0" cy="619125"/>
          </a:xfrm>
          <a:prstGeom prst="straightConnector1">
            <a:avLst/>
          </a:prstGeom>
          <a:ln w="22860">
            <a:solidFill>
              <a:srgbClr val="3567A5"/>
            </a:solidFill>
            <a:prstDash val="solid"/>
            <a:tailEnd type="none" w="med" len="med"/>
          </a:ln>
        </p:spPr>
      </p:cxnSp>
      <p:cxnSp>
        <p:nvCxnSpPr>
          <p:cNvPr id="16" name="flow-5">
            <a:extLst>
              <a:ext uri="{FF2B5EF4-FFF2-40B4-BE49-F238E27FC236}">
                <a16:creationId xmlns:a16="http://schemas.microsoft.com/office/drawing/2014/main" id="{D48AAC2A-A86F-4D15-AC1B-7515A8DB097F}"/>
              </a:ext>
            </a:extLst>
          </p:cNvPr>
          <p:cNvCxnSpPr/>
          <p:nvPr/>
        </p:nvCxnSpPr>
        <p:spPr>
          <a:xfrm>
            <a:off x="3667125" y="3905250"/>
            <a:ext cx="238125" cy="0"/>
          </a:xfrm>
          <a:prstGeom prst="straightConnector1">
            <a:avLst/>
          </a:prstGeom>
          <a:ln w="22860">
            <a:solidFill>
              <a:srgbClr val="3567A5"/>
            </a:solidFill>
            <a:prstDash val="solid"/>
            <a:tailEnd type="triangle" w="med" len="med"/>
          </a:ln>
        </p:spPr>
      </p:cxnSp>
      <p:sp>
        <p:nvSpPr>
          <p:cNvPr id="17" name="多智能体技能编排">
            <a:extLst>
              <a:ext uri="{FF2B5EF4-FFF2-40B4-BE49-F238E27FC236}">
                <a16:creationId xmlns:a16="http://schemas.microsoft.com/office/drawing/2014/main" id="{A406B64C-3CD1-4ED6-81A8-6BD64B836F36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5619750" cy="2000250"/>
          </a:xfrm>
          <a:prstGeom prst="rect">
            <a:avLst/>
          </a:prstGeom>
          <a:solidFill>
            <a:srgbClr val="FFFFFF"/>
          </a:solidFill>
          <a:ln w="14288">
            <a:solidFill>
              <a:srgbClr val="3567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kills-title">
            <a:extLst>
              <a:ext uri="{FF2B5EF4-FFF2-40B4-BE49-F238E27FC236}">
                <a16:creationId xmlns:a16="http://schemas.microsoft.com/office/drawing/2014/main" id="{C75E6766-81AD-4EB2-8E77-AFF6B99F3023}"/>
              </a:ext>
            </a:extLst>
          </p:cNvPr>
          <p:cNvSpPr>
            <a:spLocks noGrp="1"/>
          </p:cNvSpPr>
          <p:nvPr/>
        </p:nvSpPr>
        <p:spPr>
          <a:xfrm>
            <a:off x="7734300" y="2438400"/>
            <a:ext cx="52006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多智能体技能编排</a:t>
            </a:r>
          </a:p>
        </p:txBody>
      </p:sp>
      <p:sp>
        <p:nvSpPr>
          <p:cNvPr id="19" name="skills-body">
            <a:extLst>
              <a:ext uri="{FF2B5EF4-FFF2-40B4-BE49-F238E27FC236}">
                <a16:creationId xmlns:a16="http://schemas.microsoft.com/office/drawing/2014/main" id="{197C8EF6-039F-4B0C-A2AA-E96426DD713F}"/>
              </a:ext>
            </a:extLst>
          </p:cNvPr>
          <p:cNvSpPr>
            <a:spLocks noGrp="1"/>
          </p:cNvSpPr>
          <p:nvPr/>
        </p:nvSpPr>
        <p:spPr>
          <a:xfrm>
            <a:off x="7734300" y="2962275"/>
            <a:ext cx="5200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六类可复用技能</a:t>
            </a:r>
          </a:p>
        </p:txBody>
      </p:sp>
      <p:sp>
        <p:nvSpPr>
          <p:cNvPr id="20" name="agents">
            <a:extLst>
              <a:ext uri="{FF2B5EF4-FFF2-40B4-BE49-F238E27FC236}">
                <a16:creationId xmlns:a16="http://schemas.microsoft.com/office/drawing/2014/main" id="{75789A41-C227-41F9-8659-231CD2E4B33E}"/>
              </a:ext>
            </a:extLst>
          </p:cNvPr>
          <p:cNvSpPr>
            <a:spLocks noGrp="1"/>
          </p:cNvSpPr>
          <p:nvPr/>
        </p:nvSpPr>
        <p:spPr>
          <a:xfrm>
            <a:off x="7734300" y="3371850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识别 / 判别 / 组合智能体</a:t>
            </a:r>
          </a:p>
        </p:txBody>
      </p:sp>
      <p:sp>
        <p:nvSpPr>
          <p:cNvPr id="21" name="execution">
            <a:extLst>
              <a:ext uri="{FF2B5EF4-FFF2-40B4-BE49-F238E27FC236}">
                <a16:creationId xmlns:a16="http://schemas.microsoft.com/office/drawing/2014/main" id="{DCFCC728-507C-40F5-9D34-C776371F0F48}"/>
              </a:ext>
            </a:extLst>
          </p:cNvPr>
          <p:cNvSpPr>
            <a:spLocks noGrp="1"/>
          </p:cNvSpPr>
          <p:nvPr/>
        </p:nvSpPr>
        <p:spPr>
          <a:xfrm>
            <a:off x="7734300" y="3829050"/>
            <a:ext cx="52006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逐样本执行 / 可复用策略执行</a:t>
            </a:r>
          </a:p>
        </p:txBody>
      </p:sp>
      <p:cxnSp>
        <p:nvCxnSpPr>
          <p:cNvPr id="22" name="flow-6">
            <a:extLst>
              <a:ext uri="{FF2B5EF4-FFF2-40B4-BE49-F238E27FC236}">
                <a16:creationId xmlns:a16="http://schemas.microsoft.com/office/drawing/2014/main" id="{C30255D7-032E-4CFD-AB40-E4377409D9EE}"/>
              </a:ext>
            </a:extLst>
          </p:cNvPr>
          <p:cNvCxnSpPr/>
          <p:nvPr/>
        </p:nvCxnSpPr>
        <p:spPr>
          <a:xfrm>
            <a:off x="7048500" y="3905250"/>
            <a:ext cx="476250" cy="0"/>
          </a:xfrm>
          <a:prstGeom prst="straightConnector1">
            <a:avLst/>
          </a:prstGeom>
          <a:ln w="22860">
            <a:solidFill>
              <a:srgbClr val="3567A5"/>
            </a:solidFill>
            <a:prstDash val="solid"/>
            <a:tailEnd type="triangle" w="med" len="med"/>
          </a:ln>
        </p:spPr>
      </p:cxnSp>
      <p:sp>
        <p:nvSpPr>
          <p:cNvPr id="23" name="分层质量控制">
            <a:extLst>
              <a:ext uri="{FF2B5EF4-FFF2-40B4-BE49-F238E27FC236}">
                <a16:creationId xmlns:a16="http://schemas.microsoft.com/office/drawing/2014/main" id="{88DDE25F-9B39-46DB-9E3C-406453B059F0}"/>
              </a:ext>
            </a:extLst>
          </p:cNvPr>
          <p:cNvSpPr>
            <a:spLocks noGrp="1"/>
          </p:cNvSpPr>
          <p:nvPr/>
        </p:nvSpPr>
        <p:spPr>
          <a:xfrm>
            <a:off x="13620750" y="2286000"/>
            <a:ext cx="3905250" cy="2000250"/>
          </a:xfrm>
          <a:prstGeom prst="rect">
            <a:avLst/>
          </a:prstGeom>
          <a:solidFill>
            <a:srgbClr val="F2F6FC"/>
          </a:solidFill>
          <a:ln w="14288">
            <a:solidFill>
              <a:srgbClr val="3567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quality-title">
            <a:extLst>
              <a:ext uri="{FF2B5EF4-FFF2-40B4-BE49-F238E27FC236}">
                <a16:creationId xmlns:a16="http://schemas.microsoft.com/office/drawing/2014/main" id="{238A6E47-7EDC-4E84-A84E-43A9BD583682}"/>
              </a:ext>
            </a:extLst>
          </p:cNvPr>
          <p:cNvSpPr>
            <a:spLocks noGrp="1"/>
          </p:cNvSpPr>
          <p:nvPr/>
        </p:nvSpPr>
        <p:spPr>
          <a:xfrm>
            <a:off x="13830300" y="2524125"/>
            <a:ext cx="3486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分层质量控制</a:t>
            </a:r>
          </a:p>
        </p:txBody>
      </p:sp>
      <p:sp>
        <p:nvSpPr>
          <p:cNvPr id="25" name="quality-body">
            <a:extLst>
              <a:ext uri="{FF2B5EF4-FFF2-40B4-BE49-F238E27FC236}">
                <a16:creationId xmlns:a16="http://schemas.microsoft.com/office/drawing/2014/main" id="{AE996E3D-7120-4350-B1B6-549505D13CA0}"/>
              </a:ext>
            </a:extLst>
          </p:cNvPr>
          <p:cNvSpPr>
            <a:spLocks noGrp="1"/>
          </p:cNvSpPr>
          <p:nvPr/>
        </p:nvSpPr>
        <p:spPr>
          <a:xfrm>
            <a:off x="13830300" y="3181350"/>
            <a:ext cx="34861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样本有效性与证据一致性</a:t>
            </a:r>
          </a:p>
          <a:p>
            <a:pPr algn="ctr">
              <a:def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语料分布对齐与医生抽检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5A50D3D-AEDD-4EF4-A06A-1E9D0DBF2456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3144500" y="3286125"/>
            <a:ext cx="476250" cy="0"/>
          </a:xfrm>
          <a:prstGeom prst="straightConnector1">
            <a:avLst/>
          </a:prstGeom>
          <a:ln w="21908">
            <a:solidFill>
              <a:srgbClr val="3567A5"/>
            </a:solidFill>
            <a:tailEnd type="triangle" w="med" len="med"/>
          </a:ln>
        </p:spPr>
      </p:cxnSp>
      <p:sp>
        <p:nvSpPr>
          <p:cNvPr id="27" name="section-Ⅱ  动态协同演化    CoEvoMed">
            <a:extLst>
              <a:ext uri="{FF2B5EF4-FFF2-40B4-BE49-F238E27FC236}">
                <a16:creationId xmlns:a16="http://schemas.microsoft.com/office/drawing/2014/main" id="{D5A50A9C-AE93-4745-8683-B4A3DEA624DE}"/>
              </a:ext>
            </a:extLst>
          </p:cNvPr>
          <p:cNvSpPr>
            <a:spLocks noGrp="1"/>
          </p:cNvSpPr>
          <p:nvPr/>
        </p:nvSpPr>
        <p:spPr>
          <a:xfrm>
            <a:off x="762000" y="4905375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def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Ⅱ  动态协同演化    CoEvoMed</a:t>
            </a:r>
          </a:p>
        </p:txBody>
      </p:sp>
      <p:sp>
        <p:nvSpPr>
          <p:cNvPr id="29" name="监督构建">
            <a:extLst>
              <a:ext uri="{FF2B5EF4-FFF2-40B4-BE49-F238E27FC236}">
                <a16:creationId xmlns:a16="http://schemas.microsoft.com/office/drawing/2014/main" id="{702C4610-E069-4DD9-899E-5C44E09D4F0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5524500" cy="1333500"/>
          </a:xfrm>
          <a:prstGeom prst="rect">
            <a:avLst/>
          </a:prstGeom>
          <a:solidFill>
            <a:srgbClr val="F0F8F6"/>
          </a:solidFill>
          <a:ln w="14288">
            <a:solidFill>
              <a:srgbClr val="247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generation-title">
            <a:extLst>
              <a:ext uri="{FF2B5EF4-FFF2-40B4-BE49-F238E27FC236}">
                <a16:creationId xmlns:a16="http://schemas.microsoft.com/office/drawing/2014/main" id="{70F60AC8-6ACA-4E83-B6A9-ABAC2A10F7D5}"/>
              </a:ext>
            </a:extLst>
          </p:cNvPr>
          <p:cNvSpPr>
            <a:spLocks noGrp="1"/>
          </p:cNvSpPr>
          <p:nvPr/>
        </p:nvSpPr>
        <p:spPr>
          <a:xfrm>
            <a:off x="981075" y="5953125"/>
            <a:ext cx="5086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监督构建</a:t>
            </a:r>
          </a:p>
        </p:txBody>
      </p:sp>
      <p:sp>
        <p:nvSpPr>
          <p:cNvPr id="31" name="generation-body">
            <a:extLst>
              <a:ext uri="{FF2B5EF4-FFF2-40B4-BE49-F238E27FC236}">
                <a16:creationId xmlns:a16="http://schemas.microsoft.com/office/drawing/2014/main" id="{7F373953-842B-43F2-BBFE-E6EEC032140D}"/>
              </a:ext>
            </a:extLst>
          </p:cNvPr>
          <p:cNvSpPr>
            <a:spLocks noGrp="1"/>
          </p:cNvSpPr>
          <p:nvPr/>
        </p:nvSpPr>
        <p:spPr>
          <a:xfrm>
            <a:off x="981075" y="6591300"/>
            <a:ext cx="50863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共享证据上的生成与验证</a:t>
            </a:r>
          </a:p>
        </p:txBody>
      </p:sp>
      <p:sp>
        <p:nvSpPr>
          <p:cNvPr id="32" name="医学视觉语言模型">
            <a:extLst>
              <a:ext uri="{FF2B5EF4-FFF2-40B4-BE49-F238E27FC236}">
                <a16:creationId xmlns:a16="http://schemas.microsoft.com/office/drawing/2014/main" id="{037EB71A-2D84-4A57-9E1C-4A3EE077A2E4}"/>
              </a:ext>
            </a:extLst>
          </p:cNvPr>
          <p:cNvSpPr>
            <a:spLocks noGrp="1"/>
          </p:cNvSpPr>
          <p:nvPr/>
        </p:nvSpPr>
        <p:spPr>
          <a:xfrm>
            <a:off x="7524750" y="5810250"/>
            <a:ext cx="4476750" cy="1333500"/>
          </a:xfrm>
          <a:prstGeom prst="rect">
            <a:avLst/>
          </a:prstGeom>
          <a:solidFill>
            <a:srgbClr val="172D45"/>
          </a:solidFill>
          <a:ln w="14288">
            <a:solidFill>
              <a:srgbClr val="172D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model-title">
            <a:extLst>
              <a:ext uri="{FF2B5EF4-FFF2-40B4-BE49-F238E27FC236}">
                <a16:creationId xmlns:a16="http://schemas.microsoft.com/office/drawing/2014/main" id="{768CD469-9145-40ED-B67A-2295DBDEEC14}"/>
              </a:ext>
            </a:extLst>
          </p:cNvPr>
          <p:cNvSpPr>
            <a:spLocks noGrp="1"/>
          </p:cNvSpPr>
          <p:nvPr/>
        </p:nvSpPr>
        <p:spPr>
          <a:xfrm>
            <a:off x="7753350" y="5953125"/>
            <a:ext cx="40195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医学视觉–语言模型</a:t>
            </a:r>
          </a:p>
        </p:txBody>
      </p:sp>
      <p:sp>
        <p:nvSpPr>
          <p:cNvPr id="34" name="model-body">
            <a:extLst>
              <a:ext uri="{FF2B5EF4-FFF2-40B4-BE49-F238E27FC236}">
                <a16:creationId xmlns:a16="http://schemas.microsoft.com/office/drawing/2014/main" id="{4F5F6DF7-964A-47B3-9F19-5530881422CA}"/>
              </a:ext>
            </a:extLst>
          </p:cNvPr>
          <p:cNvSpPr>
            <a:spLocks noGrp="1"/>
          </p:cNvSpPr>
          <p:nvPr/>
        </p:nvSpPr>
        <p:spPr>
          <a:xfrm>
            <a:off x="7753350" y="6591300"/>
            <a:ext cx="40195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监督训练与参数更新</a:t>
            </a:r>
          </a:p>
        </p:txBody>
      </p:sp>
      <p:sp>
        <p:nvSpPr>
          <p:cNvPr id="35" name="独立验证与能力诊断">
            <a:extLst>
              <a:ext uri="{FF2B5EF4-FFF2-40B4-BE49-F238E27FC236}">
                <a16:creationId xmlns:a16="http://schemas.microsoft.com/office/drawing/2014/main" id="{C45EDCC4-EB01-48AB-8867-DFAAF7026079}"/>
              </a:ext>
            </a:extLst>
          </p:cNvPr>
          <p:cNvSpPr>
            <a:spLocks noGrp="1"/>
          </p:cNvSpPr>
          <p:nvPr/>
        </p:nvSpPr>
        <p:spPr>
          <a:xfrm>
            <a:off x="13239750" y="5810250"/>
            <a:ext cx="4286250" cy="1333500"/>
          </a:xfrm>
          <a:prstGeom prst="rect">
            <a:avLst/>
          </a:prstGeom>
          <a:solidFill>
            <a:srgbClr val="F0F8F6"/>
          </a:solidFill>
          <a:ln w="14288">
            <a:solidFill>
              <a:srgbClr val="247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diagnosis-title">
            <a:extLst>
              <a:ext uri="{FF2B5EF4-FFF2-40B4-BE49-F238E27FC236}">
                <a16:creationId xmlns:a16="http://schemas.microsoft.com/office/drawing/2014/main" id="{8CE31C18-846F-407B-A7C1-58B26E8A19A1}"/>
              </a:ext>
            </a:extLst>
          </p:cNvPr>
          <p:cNvSpPr>
            <a:spLocks noGrp="1"/>
          </p:cNvSpPr>
          <p:nvPr/>
        </p:nvSpPr>
        <p:spPr>
          <a:xfrm>
            <a:off x="13392150" y="5953125"/>
            <a:ext cx="39814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独立验证与能力诊断</a:t>
            </a:r>
          </a:p>
        </p:txBody>
      </p:sp>
      <p:sp>
        <p:nvSpPr>
          <p:cNvPr id="37" name="diagnosis-body">
            <a:extLst>
              <a:ext uri="{FF2B5EF4-FFF2-40B4-BE49-F238E27FC236}">
                <a16:creationId xmlns:a16="http://schemas.microsoft.com/office/drawing/2014/main" id="{577E6CB5-2FE5-4BD7-8ECD-C980AE53D1F9}"/>
              </a:ext>
            </a:extLst>
          </p:cNvPr>
          <p:cNvSpPr>
            <a:spLocks noGrp="1"/>
          </p:cNvSpPr>
          <p:nvPr/>
        </p:nvSpPr>
        <p:spPr>
          <a:xfrm>
            <a:off x="13392150" y="6591300"/>
            <a:ext cx="39814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学习增益与残余错误</a:t>
            </a: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90F8FF1D-807A-4191-9B79-D4E27C1C31DB}"/>
              </a:ext>
            </a:extLst>
          </p:cNvPr>
          <p:cNvCxnSpPr>
            <a:stCxn id="29" idx="3"/>
            <a:endCxn id="32" idx="1"/>
          </p:cNvCxnSpPr>
          <p:nvPr/>
        </p:nvCxnSpPr>
        <p:spPr>
          <a:xfrm>
            <a:off x="6286500" y="6477000"/>
            <a:ext cx="1238250" cy="0"/>
          </a:xfrm>
          <a:prstGeom prst="straightConnector1">
            <a:avLst/>
          </a:prstGeom>
          <a:ln w="21908">
            <a:solidFill>
              <a:srgbClr val="247E79"/>
            </a:solidFill>
            <a:tailEnd type="triangle" w="med" len="med"/>
          </a:ln>
        </p:spPr>
      </p:cxnSp>
      <p:sp>
        <p:nvSpPr>
          <p:cNvPr id="39" name="supervision-type">
            <a:extLst>
              <a:ext uri="{FF2B5EF4-FFF2-40B4-BE49-F238E27FC236}">
                <a16:creationId xmlns:a16="http://schemas.microsoft.com/office/drawing/2014/main" id="{94D769BD-E4C3-4615-BBA6-E72C8A73B43A}"/>
              </a:ext>
            </a:extLst>
          </p:cNvPr>
          <p:cNvSpPr>
            <a:spLocks noGrp="1"/>
          </p:cNvSpPr>
          <p:nvPr/>
        </p:nvSpPr>
        <p:spPr>
          <a:xfrm>
            <a:off x="6362700" y="6096000"/>
            <a:ext cx="10858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问答 / 报告</a:t>
            </a: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02B087AB-A06C-4EE1-9DD0-E069698E0295}"/>
              </a:ext>
            </a:extLst>
          </p:cNvPr>
          <p:cNvCxnSpPr>
            <a:stCxn id="32" idx="3"/>
            <a:endCxn id="35" idx="1"/>
          </p:cNvCxnSpPr>
          <p:nvPr/>
        </p:nvCxnSpPr>
        <p:spPr>
          <a:xfrm>
            <a:off x="12001500" y="6477000"/>
            <a:ext cx="1238250" cy="0"/>
          </a:xfrm>
          <a:prstGeom prst="straightConnector1">
            <a:avLst/>
          </a:prstGeom>
          <a:ln w="21908">
            <a:solidFill>
              <a:srgbClr val="247E79"/>
            </a:solidFill>
            <a:tailEnd type="triangle" w="med" len="med"/>
          </a:ln>
        </p:spPr>
      </p:cxnSp>
      <p:cxnSp>
        <p:nvCxnSpPr>
          <p:cNvPr id="41" name="flow-8">
            <a:extLst>
              <a:ext uri="{FF2B5EF4-FFF2-40B4-BE49-F238E27FC236}">
                <a16:creationId xmlns:a16="http://schemas.microsoft.com/office/drawing/2014/main" id="{0FFA9486-12F1-44D1-9663-4EBFDC07FB6A}"/>
              </a:ext>
            </a:extLst>
          </p:cNvPr>
          <p:cNvCxnSpPr/>
          <p:nvPr/>
        </p:nvCxnSpPr>
        <p:spPr>
          <a:xfrm>
            <a:off x="15573375" y="4286250"/>
            <a:ext cx="0" cy="371475"/>
          </a:xfrm>
          <a:prstGeom prst="straightConnector1">
            <a:avLst/>
          </a:prstGeom>
          <a:ln w="24765">
            <a:solidFill>
              <a:srgbClr val="3567A5"/>
            </a:solidFill>
            <a:prstDash val="solid"/>
            <a:tailEnd type="none" w="med" len="med"/>
          </a:ln>
        </p:spPr>
      </p:cxnSp>
      <p:cxnSp>
        <p:nvCxnSpPr>
          <p:cNvPr id="42" name="flow-9">
            <a:extLst>
              <a:ext uri="{FF2B5EF4-FFF2-40B4-BE49-F238E27FC236}">
                <a16:creationId xmlns:a16="http://schemas.microsoft.com/office/drawing/2014/main" id="{331A9E95-FDC2-45B2-A6D8-2AF6550FD6D3}"/>
              </a:ext>
            </a:extLst>
          </p:cNvPr>
          <p:cNvCxnSpPr/>
          <p:nvPr/>
        </p:nvCxnSpPr>
        <p:spPr>
          <a:xfrm flipH="1">
            <a:off x="9763125" y="4657725"/>
            <a:ext cx="5810250" cy="0"/>
          </a:xfrm>
          <a:prstGeom prst="straightConnector1">
            <a:avLst/>
          </a:prstGeom>
          <a:ln w="24765">
            <a:solidFill>
              <a:srgbClr val="3567A5"/>
            </a:solidFill>
            <a:prstDash val="solid"/>
            <a:tailEnd type="none" w="med" len="med"/>
          </a:ln>
        </p:spPr>
      </p:cxnSp>
      <p:cxnSp>
        <p:nvCxnSpPr>
          <p:cNvPr id="43" name="flow-10">
            <a:extLst>
              <a:ext uri="{FF2B5EF4-FFF2-40B4-BE49-F238E27FC236}">
                <a16:creationId xmlns:a16="http://schemas.microsoft.com/office/drawing/2014/main" id="{E4633458-F693-46FF-811D-6FF79D76A22F}"/>
              </a:ext>
            </a:extLst>
          </p:cNvPr>
          <p:cNvCxnSpPr/>
          <p:nvPr/>
        </p:nvCxnSpPr>
        <p:spPr>
          <a:xfrm>
            <a:off x="9763125" y="4657725"/>
            <a:ext cx="0" cy="1152525"/>
          </a:xfrm>
          <a:prstGeom prst="straightConnector1">
            <a:avLst/>
          </a:prstGeom>
          <a:ln w="24765">
            <a:solidFill>
              <a:srgbClr val="3567A5"/>
            </a:solidFill>
            <a:prstDash val="solid"/>
            <a:tailEnd type="triangle" w="med" len="med"/>
          </a:ln>
        </p:spPr>
      </p:cxnSp>
      <p:sp>
        <p:nvSpPr>
          <p:cNvPr id="44" name="first-supervision">
            <a:extLst>
              <a:ext uri="{FF2B5EF4-FFF2-40B4-BE49-F238E27FC236}">
                <a16:creationId xmlns:a16="http://schemas.microsoft.com/office/drawing/2014/main" id="{9A436A47-BCD6-4619-AC02-D7DD70C9DDE5}"/>
              </a:ext>
            </a:extLst>
          </p:cNvPr>
          <p:cNvSpPr>
            <a:spLocks noGrp="1"/>
          </p:cNvSpPr>
          <p:nvPr/>
        </p:nvSpPr>
        <p:spPr>
          <a:xfrm>
            <a:off x="11287125" y="4314825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67A5"/>
                </a:solidFill>
                <a:latin typeface="PingFang SC"/>
                <a:ea typeface="PingFang SC"/>
                <a:cs typeface="PingFang SC"/>
              </a:rPr>
              <a:t>首批任务对齐监督</a:t>
            </a:r>
          </a:p>
        </p:txBody>
      </p:sp>
      <p:sp>
        <p:nvSpPr>
          <p:cNvPr id="45" name="原则修订">
            <a:extLst>
              <a:ext uri="{FF2B5EF4-FFF2-40B4-BE49-F238E27FC236}">
                <a16:creationId xmlns:a16="http://schemas.microsoft.com/office/drawing/2014/main" id="{078BEADB-8CAF-4CC3-AF1E-9D51AE328D27}"/>
              </a:ext>
            </a:extLst>
          </p:cNvPr>
          <p:cNvSpPr>
            <a:spLocks noGrp="1"/>
          </p:cNvSpPr>
          <p:nvPr/>
        </p:nvSpPr>
        <p:spPr>
          <a:xfrm>
            <a:off x="4476750" y="7953375"/>
            <a:ext cx="4381500" cy="952500"/>
          </a:xfrm>
          <a:prstGeom prst="rect">
            <a:avLst/>
          </a:prstGeom>
          <a:solidFill>
            <a:srgbClr val="F7F3FB"/>
          </a:solidFill>
          <a:ln w="14288">
            <a:solidFill>
              <a:srgbClr val="7751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principles-title">
            <a:extLst>
              <a:ext uri="{FF2B5EF4-FFF2-40B4-BE49-F238E27FC236}">
                <a16:creationId xmlns:a16="http://schemas.microsoft.com/office/drawing/2014/main" id="{6E8EBAA2-A17F-4633-A26F-63188221CB25}"/>
              </a:ext>
            </a:extLst>
          </p:cNvPr>
          <p:cNvSpPr>
            <a:spLocks noGrp="1"/>
          </p:cNvSpPr>
          <p:nvPr/>
        </p:nvSpPr>
        <p:spPr>
          <a:xfrm>
            <a:off x="4648200" y="8039100"/>
            <a:ext cx="40386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751A6"/>
                </a:solidFill>
                <a:latin typeface="PingFang SC"/>
                <a:ea typeface="PingFang SC"/>
                <a:cs typeface="PingFang SC"/>
              </a:rPr>
              <a:t>原则修订：如何构建</a:t>
            </a:r>
          </a:p>
        </p:txBody>
      </p:sp>
      <p:sp>
        <p:nvSpPr>
          <p:cNvPr id="47" name="principles-body">
            <a:extLst>
              <a:ext uri="{FF2B5EF4-FFF2-40B4-BE49-F238E27FC236}">
                <a16:creationId xmlns:a16="http://schemas.microsoft.com/office/drawing/2014/main" id="{A8611A06-447E-488E-92CF-AEC5198D7647}"/>
              </a:ext>
            </a:extLst>
          </p:cNvPr>
          <p:cNvSpPr>
            <a:spLocks noGrp="1"/>
          </p:cNvSpPr>
          <p:nvPr/>
        </p:nvSpPr>
        <p:spPr>
          <a:xfrm>
            <a:off x="4648200" y="8524875"/>
            <a:ext cx="4038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依据残余错误更新构建原则</a:t>
            </a:r>
          </a:p>
        </p:txBody>
      </p:sp>
      <p:sp>
        <p:nvSpPr>
          <p:cNvPr id="48" name="课程分配">
            <a:extLst>
              <a:ext uri="{FF2B5EF4-FFF2-40B4-BE49-F238E27FC236}">
                <a16:creationId xmlns:a16="http://schemas.microsoft.com/office/drawing/2014/main" id="{2AC027B3-9413-4E75-9528-DFCD3127FDF0}"/>
              </a:ext>
            </a:extLst>
          </p:cNvPr>
          <p:cNvSpPr>
            <a:spLocks noGrp="1"/>
          </p:cNvSpPr>
          <p:nvPr/>
        </p:nvSpPr>
        <p:spPr>
          <a:xfrm>
            <a:off x="10572750" y="7953375"/>
            <a:ext cx="4381500" cy="952500"/>
          </a:xfrm>
          <a:prstGeom prst="rect">
            <a:avLst/>
          </a:prstGeom>
          <a:solidFill>
            <a:srgbClr val="FBF6EC"/>
          </a:solidFill>
          <a:ln w="14288">
            <a:solidFill>
              <a:srgbClr val="AC6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urriculum-title">
            <a:extLst>
              <a:ext uri="{FF2B5EF4-FFF2-40B4-BE49-F238E27FC236}">
                <a16:creationId xmlns:a16="http://schemas.microsoft.com/office/drawing/2014/main" id="{6A0A70EE-2B42-41CC-8E99-F8B57E92488B}"/>
              </a:ext>
            </a:extLst>
          </p:cNvPr>
          <p:cNvSpPr>
            <a:spLocks noGrp="1"/>
          </p:cNvSpPr>
          <p:nvPr/>
        </p:nvSpPr>
        <p:spPr>
          <a:xfrm>
            <a:off x="10744200" y="8039100"/>
            <a:ext cx="40386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C6A20"/>
                </a:solidFill>
                <a:latin typeface="PingFang SC"/>
                <a:ea typeface="PingFang SC"/>
                <a:cs typeface="PingFang SC"/>
              </a:rPr>
              <a:t>课程分配：在哪里投入</a:t>
            </a:r>
          </a:p>
        </p:txBody>
      </p:sp>
      <p:sp>
        <p:nvSpPr>
          <p:cNvPr id="50" name="curriculum-body">
            <a:extLst>
              <a:ext uri="{FF2B5EF4-FFF2-40B4-BE49-F238E27FC236}">
                <a16:creationId xmlns:a16="http://schemas.microsoft.com/office/drawing/2014/main" id="{CD29A76A-EE4D-4636-9142-A9C7EFC9D1CF}"/>
              </a:ext>
            </a:extLst>
          </p:cNvPr>
          <p:cNvSpPr>
            <a:spLocks noGrp="1"/>
          </p:cNvSpPr>
          <p:nvPr/>
        </p:nvSpPr>
        <p:spPr>
          <a:xfrm>
            <a:off x="10744200" y="8524875"/>
            <a:ext cx="4038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固定任务预算内调整能力份额</a:t>
            </a:r>
          </a:p>
        </p:txBody>
      </p:sp>
      <p:cxnSp>
        <p:nvCxnSpPr>
          <p:cNvPr id="51" name="flow-11">
            <a:extLst>
              <a:ext uri="{FF2B5EF4-FFF2-40B4-BE49-F238E27FC236}">
                <a16:creationId xmlns:a16="http://schemas.microsoft.com/office/drawing/2014/main" id="{A46B6A30-EA8B-46C5-87F7-B6C6ED372D49}"/>
              </a:ext>
            </a:extLst>
          </p:cNvPr>
          <p:cNvCxnSpPr/>
          <p:nvPr/>
        </p:nvCxnSpPr>
        <p:spPr>
          <a:xfrm>
            <a:off x="15382875" y="7143750"/>
            <a:ext cx="0" cy="381000"/>
          </a:xfrm>
          <a:prstGeom prst="straightConnector1">
            <a:avLst/>
          </a:prstGeom>
          <a:ln w="22860">
            <a:solidFill>
              <a:srgbClr val="247E79"/>
            </a:solidFill>
            <a:prstDash val="solid"/>
            <a:tailEnd type="none" w="med" len="med"/>
          </a:ln>
        </p:spPr>
      </p:cxnSp>
      <p:cxnSp>
        <p:nvCxnSpPr>
          <p:cNvPr id="52" name="flow-12">
            <a:extLst>
              <a:ext uri="{FF2B5EF4-FFF2-40B4-BE49-F238E27FC236}">
                <a16:creationId xmlns:a16="http://schemas.microsoft.com/office/drawing/2014/main" id="{E517D8B1-B9E0-451A-9518-BDF1325E38A2}"/>
              </a:ext>
            </a:extLst>
          </p:cNvPr>
          <p:cNvCxnSpPr/>
          <p:nvPr/>
        </p:nvCxnSpPr>
        <p:spPr>
          <a:xfrm>
            <a:off x="6667500" y="7524750"/>
            <a:ext cx="8715375" cy="0"/>
          </a:xfrm>
          <a:prstGeom prst="straightConnector1">
            <a:avLst/>
          </a:prstGeom>
          <a:ln w="22860">
            <a:solidFill>
              <a:srgbClr val="247E79"/>
            </a:solidFill>
            <a:prstDash val="solid"/>
            <a:tailEnd type="none" w="med" len="med"/>
          </a:ln>
        </p:spPr>
      </p:cxnSp>
      <p:cxnSp>
        <p:nvCxnSpPr>
          <p:cNvPr id="53" name="flow-13">
            <a:extLst>
              <a:ext uri="{FF2B5EF4-FFF2-40B4-BE49-F238E27FC236}">
                <a16:creationId xmlns:a16="http://schemas.microsoft.com/office/drawing/2014/main" id="{9D0F2FB8-0BA5-4547-9F0F-90E6F26DCBAB}"/>
              </a:ext>
            </a:extLst>
          </p:cNvPr>
          <p:cNvCxnSpPr/>
          <p:nvPr/>
        </p:nvCxnSpPr>
        <p:spPr>
          <a:xfrm>
            <a:off x="6667500" y="7524750"/>
            <a:ext cx="0" cy="428625"/>
          </a:xfrm>
          <a:prstGeom prst="straightConnector1">
            <a:avLst/>
          </a:prstGeom>
          <a:ln w="24765">
            <a:solidFill>
              <a:srgbClr val="7751A6"/>
            </a:solidFill>
            <a:prstDash val="solid"/>
            <a:tailEnd type="triangle" w="med" len="med"/>
          </a:ln>
        </p:spPr>
      </p:cxnSp>
      <p:cxnSp>
        <p:nvCxnSpPr>
          <p:cNvPr id="54" name="flow-14">
            <a:extLst>
              <a:ext uri="{FF2B5EF4-FFF2-40B4-BE49-F238E27FC236}">
                <a16:creationId xmlns:a16="http://schemas.microsoft.com/office/drawing/2014/main" id="{1E2F57C7-5911-4AE9-A602-172F0269A116}"/>
              </a:ext>
            </a:extLst>
          </p:cNvPr>
          <p:cNvCxnSpPr/>
          <p:nvPr/>
        </p:nvCxnSpPr>
        <p:spPr>
          <a:xfrm>
            <a:off x="12763500" y="7524750"/>
            <a:ext cx="0" cy="428625"/>
          </a:xfrm>
          <a:prstGeom prst="straightConnector1">
            <a:avLst/>
          </a:prstGeom>
          <a:ln w="24765">
            <a:solidFill>
              <a:srgbClr val="AC6A20"/>
            </a:solidFill>
            <a:prstDash val="solid"/>
            <a:tailEnd type="triangle" w="med" len="med"/>
          </a:ln>
        </p:spPr>
      </p:cxnSp>
      <p:sp>
        <p:nvSpPr>
          <p:cNvPr id="55" name="feedback-label">
            <a:extLst>
              <a:ext uri="{FF2B5EF4-FFF2-40B4-BE49-F238E27FC236}">
                <a16:creationId xmlns:a16="http://schemas.microsoft.com/office/drawing/2014/main" id="{9C873686-B2FA-477D-8ED1-3494C4DC9CA6}"/>
              </a:ext>
            </a:extLst>
          </p:cNvPr>
          <p:cNvSpPr>
            <a:spLocks noGrp="1"/>
          </p:cNvSpPr>
          <p:nvPr/>
        </p:nvSpPr>
        <p:spPr>
          <a:xfrm>
            <a:off x="15621000" y="73342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def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学习反馈</a:t>
            </a:r>
          </a:p>
        </p:txBody>
      </p:sp>
      <p:cxnSp>
        <p:nvCxnSpPr>
          <p:cNvPr id="56" name="flow-15">
            <a:extLst>
              <a:ext uri="{FF2B5EF4-FFF2-40B4-BE49-F238E27FC236}">
                <a16:creationId xmlns:a16="http://schemas.microsoft.com/office/drawing/2014/main" id="{AD83B145-B361-463D-AA62-62631ADF9F09}"/>
              </a:ext>
            </a:extLst>
          </p:cNvPr>
          <p:cNvCxnSpPr/>
          <p:nvPr/>
        </p:nvCxnSpPr>
        <p:spPr>
          <a:xfrm>
            <a:off x="6667500" y="8905875"/>
            <a:ext cx="0" cy="285750"/>
          </a:xfrm>
          <a:prstGeom prst="straightConnector1">
            <a:avLst/>
          </a:prstGeom>
          <a:ln w="23813">
            <a:solidFill>
              <a:srgbClr val="7751A6"/>
            </a:solidFill>
            <a:prstDash val="dash"/>
            <a:tailEnd type="none" w="med" len="med"/>
          </a:ln>
        </p:spPr>
      </p:cxnSp>
      <p:cxnSp>
        <p:nvCxnSpPr>
          <p:cNvPr id="57" name="flow-16">
            <a:extLst>
              <a:ext uri="{FF2B5EF4-FFF2-40B4-BE49-F238E27FC236}">
                <a16:creationId xmlns:a16="http://schemas.microsoft.com/office/drawing/2014/main" id="{0A7C98CC-DF22-4569-8A4F-C52D50FF0B3A}"/>
              </a:ext>
            </a:extLst>
          </p:cNvPr>
          <p:cNvCxnSpPr/>
          <p:nvPr/>
        </p:nvCxnSpPr>
        <p:spPr>
          <a:xfrm>
            <a:off x="12763500" y="8905875"/>
            <a:ext cx="0" cy="285750"/>
          </a:xfrm>
          <a:prstGeom prst="straightConnector1">
            <a:avLst/>
          </a:prstGeom>
          <a:ln w="23813">
            <a:solidFill>
              <a:srgbClr val="AC6A20"/>
            </a:solidFill>
            <a:prstDash val="dash"/>
            <a:tailEnd type="none" w="med" len="med"/>
          </a:ln>
        </p:spPr>
      </p:cxnSp>
      <p:cxnSp>
        <p:nvCxnSpPr>
          <p:cNvPr id="58" name="flow-17">
            <a:extLst>
              <a:ext uri="{FF2B5EF4-FFF2-40B4-BE49-F238E27FC236}">
                <a16:creationId xmlns:a16="http://schemas.microsoft.com/office/drawing/2014/main" id="{9ABA1D25-3FE0-46D3-9D7A-AAF2C6DC1B4F}"/>
              </a:ext>
            </a:extLst>
          </p:cNvPr>
          <p:cNvCxnSpPr/>
          <p:nvPr/>
        </p:nvCxnSpPr>
        <p:spPr>
          <a:xfrm flipH="1">
            <a:off x="2667000" y="9191625"/>
            <a:ext cx="10096500" cy="0"/>
          </a:xfrm>
          <a:prstGeom prst="straightConnector1">
            <a:avLst/>
          </a:prstGeom>
          <a:ln w="23813">
            <a:solidFill>
              <a:srgbClr val="247E79"/>
            </a:solidFill>
            <a:prstDash val="dash"/>
            <a:tailEnd type="none" w="med" len="med"/>
          </a:ln>
        </p:spPr>
      </p:cxnSp>
      <p:cxnSp>
        <p:nvCxnSpPr>
          <p:cNvPr id="59" name="flow-18">
            <a:extLst>
              <a:ext uri="{FF2B5EF4-FFF2-40B4-BE49-F238E27FC236}">
                <a16:creationId xmlns:a16="http://schemas.microsoft.com/office/drawing/2014/main" id="{F3B15844-DAA0-458C-B0F8-E9BE1B3220ED}"/>
              </a:ext>
            </a:extLst>
          </p:cNvPr>
          <p:cNvCxnSpPr/>
          <p:nvPr/>
        </p:nvCxnSpPr>
        <p:spPr>
          <a:xfrm flipV="1">
            <a:off x="2667000" y="7143750"/>
            <a:ext cx="0" cy="2047875"/>
          </a:xfrm>
          <a:prstGeom prst="straightConnector1">
            <a:avLst/>
          </a:prstGeom>
          <a:ln w="23813">
            <a:solidFill>
              <a:srgbClr val="247E79"/>
            </a:solidFill>
            <a:prstDash val="dash"/>
            <a:tailEnd type="triangle" w="med" len="med"/>
          </a:ln>
        </p:spPr>
      </p:cxnSp>
      <p:sp>
        <p:nvSpPr>
          <p:cNvPr id="60" name="return-label">
            <a:extLst>
              <a:ext uri="{FF2B5EF4-FFF2-40B4-BE49-F238E27FC236}">
                <a16:creationId xmlns:a16="http://schemas.microsoft.com/office/drawing/2014/main" id="{65A1C45E-980B-4025-99E6-C75696946A67}"/>
              </a:ext>
            </a:extLst>
          </p:cNvPr>
          <p:cNvSpPr>
            <a:spLocks noGrp="1"/>
          </p:cNvSpPr>
          <p:nvPr/>
        </p:nvSpPr>
        <p:spPr>
          <a:xfrm>
            <a:off x="781050" y="7848600"/>
            <a:ext cx="1714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共同指导</a:t>
            </a:r>
          </a:p>
          <a:p>
            <a:pPr algn="ctr">
              <a:def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7E79"/>
                </a:solidFill>
                <a:latin typeface="PingFang SC"/>
                <a:ea typeface="PingFang SC"/>
                <a:cs typeface="PingFang SC"/>
              </a:rPr>
              <a:t>下一轮监督构建</a:t>
            </a:r>
          </a:p>
        </p:txBody>
      </p:sp>
      <p:cxnSp>
        <p:nvCxnSpPr>
          <p:cNvPr id="61" name="flow-19">
            <a:extLst>
              <a:ext uri="{FF2B5EF4-FFF2-40B4-BE49-F238E27FC236}">
                <a16:creationId xmlns:a16="http://schemas.microsoft.com/office/drawing/2014/main" id="{779BB894-EEFE-4223-BA79-D4520D92E17B}"/>
              </a:ext>
            </a:extLst>
          </p:cNvPr>
          <p:cNvCxnSpPr/>
          <p:nvPr/>
        </p:nvCxnSpPr>
        <p:spPr>
          <a:xfrm>
            <a:off x="762000" y="9534525"/>
            <a:ext cx="16764000" cy="0"/>
          </a:xfrm>
          <a:prstGeom prst="straightConnector1">
            <a:avLst/>
          </a:prstGeom>
          <a:ln w="11430">
            <a:solidFill>
              <a:srgbClr val="B9C6D2"/>
            </a:solidFill>
            <a:prstDash val="solid"/>
            <a:tailEnd type="none" w="med" len="med"/>
          </a:ln>
        </p:spPr>
      </p:cxnSp>
      <p:sp>
        <p:nvSpPr>
          <p:cNvPr id="62" name="validation-title">
            <a:extLst>
              <a:ext uri="{FF2B5EF4-FFF2-40B4-BE49-F238E27FC236}">
                <a16:creationId xmlns:a16="http://schemas.microsoft.com/office/drawing/2014/main" id="{A9C7FF78-CF12-4D67-860E-4FF59F7C4C2C}"/>
              </a:ext>
            </a:extLst>
          </p:cNvPr>
          <p:cNvSpPr>
            <a:spLocks noGrp="1"/>
          </p:cNvSpPr>
          <p:nvPr/>
        </p:nvSpPr>
        <p:spPr>
          <a:xfrm>
            <a:off x="762000" y="96964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def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D45"/>
                </a:solidFill>
                <a:latin typeface="PingFang SC"/>
                <a:ea typeface="PingFang SC"/>
                <a:cs typeface="PingFang SC"/>
              </a:rPr>
              <a:t>Ⅲ  系统实验验证</a:t>
            </a:r>
          </a:p>
        </p:txBody>
      </p:sp>
      <p:sp>
        <p:nvSpPr>
          <p:cNvPr id="63" name="validation-tasks">
            <a:extLst>
              <a:ext uri="{FF2B5EF4-FFF2-40B4-BE49-F238E27FC236}">
                <a16:creationId xmlns:a16="http://schemas.microsoft.com/office/drawing/2014/main" id="{85E31B34-F8C6-4528-9E23-8375508FCB04}"/>
              </a:ext>
            </a:extLst>
          </p:cNvPr>
          <p:cNvSpPr>
            <a:spLocks noGrp="1"/>
          </p:cNvSpPr>
          <p:nvPr/>
        </p:nvSpPr>
        <p:spPr>
          <a:xfrm>
            <a:off x="4286250" y="9696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2D/3D 问答与报告</a:t>
            </a:r>
          </a:p>
        </p:txBody>
      </p:sp>
      <p:sp>
        <p:nvSpPr>
          <p:cNvPr id="64" name="validation-models">
            <a:extLst>
              <a:ext uri="{FF2B5EF4-FFF2-40B4-BE49-F238E27FC236}">
                <a16:creationId xmlns:a16="http://schemas.microsoft.com/office/drawing/2014/main" id="{B8B54EC4-0CCC-4A4E-A9DD-91DB3EE613A0}"/>
              </a:ext>
            </a:extLst>
          </p:cNvPr>
          <p:cNvSpPr>
            <a:spLocks noGrp="1"/>
          </p:cNvSpPr>
          <p:nvPr/>
        </p:nvSpPr>
        <p:spPr>
          <a:xfrm>
            <a:off x="9191625" y="96964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跨规模与跨骨干</a:t>
            </a:r>
          </a:p>
        </p:txBody>
      </p:sp>
      <p:sp>
        <p:nvSpPr>
          <p:cNvPr id="65" name="validation-mechanisms">
            <a:extLst>
              <a:ext uri="{FF2B5EF4-FFF2-40B4-BE49-F238E27FC236}">
                <a16:creationId xmlns:a16="http://schemas.microsoft.com/office/drawing/2014/main" id="{2E884562-B1F2-4924-A539-E6ABCE5C0CEA}"/>
              </a:ext>
            </a:extLst>
          </p:cNvPr>
          <p:cNvSpPr>
            <a:spLocks noGrp="1"/>
          </p:cNvSpPr>
          <p:nvPr/>
        </p:nvSpPr>
        <p:spPr>
          <a:xfrm>
            <a:off x="13620750" y="9696450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def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06176"/>
                </a:solidFill>
                <a:latin typeface="PingFang SC"/>
                <a:ea typeface="PingFang SC"/>
                <a:cs typeface="PingFang SC"/>
              </a:rPr>
              <a:t>消融与机制分析</a:t>
            </a:r>
          </a:p>
        </p:txBody>
      </p:sp>
    </p:spTree>
    <p:extLst>
      <p:ext uri="{BB962C8B-B14F-4D97-AF65-F5344CB8AC3E}">
        <p14:creationId xmlns:p14="http://schemas.microsoft.com/office/powerpoint/2010/main" val="2146273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Macintosh PowerPoint</Application>
  <DocSecurity>0</DocSecurity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PingFang SC</vt:lpstr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af18385@365mso.com</cp:lastModifiedBy>
  <cp:revision>1</cp:revision>
  <dcterms:created xsi:type="dcterms:W3CDTF">2026-10-30T09:36:00Z</dcterms:created>
  <dcterms:modified xsi:type="dcterms:W3CDTF">2026-10-30T09:38:55Z</dcterms:modified>
</cp:coreProperties>
</file>