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1640312" cy="2157984"/>
          </a:xfrm>
          <a:prstGeom prst="rect">
            <a:avLst/>
          </a:prstGeom>
          <a:solidFill>
            <a:srgbClr val="EAF2FB"/>
          </a:solidFill>
          <a:ln w="12700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6EB5"/>
                </a:solidFill>
                <a:latin typeface="微软雅黑"/>
                <a:ea typeface="微软雅黑"/>
                <a:cs typeface="微软雅黑"/>
              </a:rPr>
              <a:t>第一阶段  静态可控构建（MedSkillFlow）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487168"/>
            <a:ext cx="11640312" cy="2157984"/>
          </a:xfrm>
          <a:prstGeom prst="rect">
            <a:avLst/>
          </a:prstGeom>
          <a:solidFill>
            <a:srgbClr val="FDF1E6"/>
          </a:solidFill>
          <a:ln w="12700">
            <a:solidFill>
              <a:srgbClr val="C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6A1B"/>
                </a:solidFill>
                <a:latin typeface="微软雅黑"/>
                <a:ea typeface="微软雅黑"/>
                <a:cs typeface="微软雅黑"/>
              </a:rPr>
              <a:t>第二阶段  动态协同演化（CoEvoMed）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773168"/>
            <a:ext cx="11640312" cy="1883664"/>
          </a:xfrm>
          <a:prstGeom prst="rect">
            <a:avLst/>
          </a:prstGeom>
          <a:solidFill>
            <a:srgbClr val="EBF6EE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  <a:latin typeface="微软雅黑"/>
                <a:ea typeface="微软雅黑"/>
                <a:cs typeface="微软雅黑"/>
              </a:rPr>
              <a:t>第三阶段  系统实验验证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64008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异构医学语料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放射报告
半结构化标注
诊断摘要
2D/3D 医学影像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0260" y="64008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临床推理
分类体系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查询形式
答案规范
能力标签
目标分布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64008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规划智能体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选择技能链
分派执行智能体
（六类可复用技能）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7820" y="64008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执行智能体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7548" y="1024127"/>
            <a:ext cx="1152144" cy="3200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识别智能体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7548" y="1417319"/>
            <a:ext cx="1152144" cy="3200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判别智能体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7548" y="1810512"/>
            <a:ext cx="1152144" cy="3200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组合智能体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64008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双模式执行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逐样本执行
（细粒度控制）
可复用策略执行
（批量、低成本）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5380" y="64008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分层质量控制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确定性规则约束
多模型合理性评分
任务分布对齐监控
临床医生抽检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59" y="64008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D6E6F7"/>
          </a:solidFill>
          <a:ln w="15875">
            <a:solidFill>
              <a:srgbClr val="2F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任务对齐的
训练数据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约 300 万条
问答对与报告</a:t>
            </a:r>
          </a:p>
        </p:txBody>
      </p:sp>
      <p:cxnSp>
        <p:nvCxnSpPr>
          <p:cNvPr id="18" name="Connector 17"/>
          <p:cNvCxnSpPr>
            <a:stCxn id="8" idx="3"/>
            <a:endCxn id="9" idx="1"/>
          </p:cNvCxnSpPr>
          <p:nvPr/>
        </p:nvCxnSpPr>
        <p:spPr>
          <a:xfrm flipV="1">
            <a:off x="1783080" y="1440180"/>
            <a:ext cx="297180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9" idx="3"/>
            <a:endCxn id="10" idx="1"/>
          </p:cNvCxnSpPr>
          <p:nvPr/>
        </p:nvCxnSpPr>
        <p:spPr>
          <a:xfrm flipV="1">
            <a:off x="3451860" y="1440180"/>
            <a:ext cx="297179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0" idx="3"/>
            <a:endCxn id="11" idx="1"/>
          </p:cNvCxnSpPr>
          <p:nvPr/>
        </p:nvCxnSpPr>
        <p:spPr>
          <a:xfrm flipV="1">
            <a:off x="5120639" y="1440180"/>
            <a:ext cx="297181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3"/>
            <a:endCxn id="15" idx="1"/>
          </p:cNvCxnSpPr>
          <p:nvPr/>
        </p:nvCxnSpPr>
        <p:spPr>
          <a:xfrm flipV="1">
            <a:off x="6789420" y="1440180"/>
            <a:ext cx="297180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5" idx="3"/>
            <a:endCxn id="16" idx="1"/>
          </p:cNvCxnSpPr>
          <p:nvPr/>
        </p:nvCxnSpPr>
        <p:spPr>
          <a:xfrm flipV="1">
            <a:off x="8458200" y="1440180"/>
            <a:ext cx="297180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6" idx="3"/>
            <a:endCxn id="17" idx="1"/>
          </p:cNvCxnSpPr>
          <p:nvPr/>
        </p:nvCxnSpPr>
        <p:spPr>
          <a:xfrm flipV="1">
            <a:off x="10126980" y="1440180"/>
            <a:ext cx="297179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424159" y="292608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医学视觉-语言
模型训练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Qwen3-VL 等骨干
8B / 32B 规模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292608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独立验证集评估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能力画像
学习增益
残余错误语义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2880360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课程规划器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学习进度驱动·PPO 优化
解决"在哪里投入"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3776472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原则修订智能体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依据残余错误修订原则
解决"如何构建"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2880360"/>
            <a:ext cx="1371600" cy="1645920"/>
          </a:xfrm>
          <a:prstGeom prst="roundRect">
            <a:avLst>
              <a:gd name="adj" fmla="val 8000"/>
            </a:avLst>
          </a:prstGeom>
          <a:solidFill>
            <a:srgbClr val="FBE3CC"/>
          </a:solidFill>
          <a:ln w="15875">
            <a:solidFill>
              <a:srgbClr val="C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下一轮
监督构建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更新构建原则
与预算份额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880360"/>
            <a:ext cx="3154680" cy="16459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26A1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协同演化闭环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每轮训练后评估模型能力，
同步调整资源分配与构建原则，
循环迭代，使训练数据随模型
能力的变化不断优化</a:t>
            </a:r>
          </a:p>
        </p:txBody>
      </p:sp>
      <p:cxnSp>
        <p:nvCxnSpPr>
          <p:cNvPr id="30" name="Connector 29"/>
          <p:cNvCxnSpPr>
            <a:stCxn id="17" idx="2"/>
            <a:endCxn id="24" idx="0"/>
          </p:cNvCxnSpPr>
          <p:nvPr/>
        </p:nvCxnSpPr>
        <p:spPr>
          <a:xfrm flipH="1">
            <a:off x="11109959" y="2240280"/>
            <a:ext cx="0" cy="68580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4" idx="1"/>
            <a:endCxn id="25" idx="3"/>
          </p:cNvCxnSpPr>
          <p:nvPr/>
        </p:nvCxnSpPr>
        <p:spPr>
          <a:xfrm flipH="1" flipV="1">
            <a:off x="9921240" y="3703320"/>
            <a:ext cx="502919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25" idx="1"/>
            <a:endCxn id="26" idx="3"/>
          </p:cNvCxnSpPr>
          <p:nvPr/>
        </p:nvCxnSpPr>
        <p:spPr>
          <a:xfrm flipH="1" flipV="1">
            <a:off x="7360920" y="3255264"/>
            <a:ext cx="457200" cy="448056"/>
          </a:xfrm>
          <a:prstGeom prst="bentConnector3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25" idx="1"/>
            <a:endCxn id="27" idx="3"/>
          </p:cNvCxnSpPr>
          <p:nvPr/>
        </p:nvCxnSpPr>
        <p:spPr>
          <a:xfrm flipH="1">
            <a:off x="7360920" y="3703320"/>
            <a:ext cx="457200" cy="448056"/>
          </a:xfrm>
          <a:prstGeom prst="bentConnector3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26" idx="1"/>
            <a:endCxn id="28" idx="3"/>
          </p:cNvCxnSpPr>
          <p:nvPr/>
        </p:nvCxnSpPr>
        <p:spPr>
          <a:xfrm flipH="1">
            <a:off x="5120639" y="3255264"/>
            <a:ext cx="320041" cy="448056"/>
          </a:xfrm>
          <a:prstGeom prst="bentConnector3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7" idx="1"/>
            <a:endCxn id="28" idx="3"/>
          </p:cNvCxnSpPr>
          <p:nvPr/>
        </p:nvCxnSpPr>
        <p:spPr>
          <a:xfrm flipH="1" flipV="1">
            <a:off x="5120639" y="3703320"/>
            <a:ext cx="320041" cy="448056"/>
          </a:xfrm>
          <a:prstGeom prst="bentConnector3">
            <a:avLst/>
          </a:prstGeom>
          <a:ln w="19050">
            <a:solidFill>
              <a:srgbClr val="2632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8" idx="0"/>
            <a:endCxn id="10" idx="2"/>
          </p:cNvCxnSpPr>
          <p:nvPr/>
        </p:nvCxnSpPr>
        <p:spPr>
          <a:xfrm flipH="1" flipV="1">
            <a:off x="4434839" y="2240280"/>
            <a:ext cx="0" cy="640080"/>
          </a:xfrm>
          <a:prstGeom prst="line">
            <a:avLst/>
          </a:prstGeom>
          <a:ln w="19050">
            <a:solidFill>
              <a:srgbClr val="C26A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11480" y="5138928"/>
            <a:ext cx="9509760" cy="1371600"/>
          </a:xfrm>
          <a:prstGeom prst="rect">
            <a:avLst/>
          </a:prstGeom>
          <a:noFill/>
          <a:ln w="15875">
            <a:solidFill>
              <a:srgbClr val="2E8B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5230368"/>
            <a:ext cx="173370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2D 医学视觉问答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VQA-RAD · SLAKE
PMC-VQA · PathVQA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01214" y="5230368"/>
            <a:ext cx="173370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放射报告生成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MIMIC-CXR · IU-Xray
RaTEScore 等指标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9508" y="5230368"/>
            <a:ext cx="173370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3D 医学任务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M3D-VQA · 3D-RAD
AMOS-MM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7803" y="5230368"/>
            <a:ext cx="173370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跨规模与跨骨干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8B / 32B
Qwen3-VL · Gemma-3
InternVL3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6097" y="5230368"/>
            <a:ext cx="173370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消融与机制分析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各模块贡献
能力轨迹·构建成本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59" y="5138928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D3ECDB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56066"/>
                </a:solidFill>
                <a:latin typeface="微软雅黑"/>
                <a:ea typeface="微软雅黑"/>
                <a:cs typeface="微软雅黑"/>
              </a:rPr>
              <a:t>方法体系
医学模型与数据
学术论文 2 篇
学位论文</a:t>
            </a:r>
          </a:p>
        </p:txBody>
      </p:sp>
      <p:cxnSp>
        <p:nvCxnSpPr>
          <p:cNvPr id="44" name="Connector 43"/>
          <p:cNvCxnSpPr>
            <a:stCxn id="24" idx="2"/>
            <a:endCxn id="37" idx="0"/>
          </p:cNvCxnSpPr>
          <p:nvPr/>
        </p:nvCxnSpPr>
        <p:spPr>
          <a:xfrm flipH="1">
            <a:off x="5166360" y="4480560"/>
            <a:ext cx="5943599" cy="658368"/>
          </a:xfrm>
          <a:prstGeom prst="bentConnector3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37" idx="3"/>
            <a:endCxn id="43" idx="1"/>
          </p:cNvCxnSpPr>
          <p:nvPr/>
        </p:nvCxnSpPr>
        <p:spPr>
          <a:xfrm flipV="1">
            <a:off x="9921240" y="5824728"/>
            <a:ext cx="502919" cy="0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